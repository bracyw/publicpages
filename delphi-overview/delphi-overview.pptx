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Delphi is where NER keeps the context our coding agents work from: instructions, skills, docs and settings. This deck follows one workspace, argos-dev, and answers two questions: where does each thing in your checkout come from, and how does an improvement get back to everyone?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is stored once, on Delphi's main branch, as a folder per workspace under software/, laid out like the org chart. For each folder, CI keeps a branch, ws/&lt;name&gt;, whose repo root is that folder, so you clone the branch and the workspace's files sit at their normal places. The workspace's name is just its folder path with workspaces/ removed.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workspace.yml is the heart of a workspace. Six keys. name and harness say which workspace it is and which agent it's for. The other four each pull something in: plugins are shared skills from the folders above, repos are the code you change, references-git are dependency sources the agent reads, and workspaces are other Delphi branches to read. This is argos-dev's real file, with URLs shortened.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programs read workspace.yml. CI's ci/plugins.sh reads harness and plugins and writes .claude/settings.json, so Claude Code enables the right plugins. Your own .delphi/setup.sh reads repos, references-git and workspaces and checks each out. The checkout hook, park.sh, uses name to keep each workspace's folders apart when you switch. Everything setup makes is git-ignored, so code never shows up as a workspace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map to keep in your head. Gold files are the workspace's own: they live in its folder on main and you change them with a PR into ws/&lt;name&gt;. .delphi/ and the CI workflow are Delphi's machinery, shared by every workspace and changed only on main. settings.json is generated, never hand-edited. Plugins aren't in your clone at all: Claude Code installs them from folders higher up on main. Dashed folders are made on your machine by setup.sh, and dotted ones are yours alone.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Folders above a workspace can share context in three ways, and they behave differently. defaults/ is copied once when the workspace is created, then it's the workspace's own. Plugin sets are one shared copy: CI enables each folder's default set in every workspace below it, and Claude Code keeps it current. And with main under workspaces:, a workspace can read its project folder at linked/main/ whenever it needs 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normal ticket. You clone the workspace and run setup once. /implement makes a worktree for the ticket's branch from origin/develop and works test-first; /run-local serves that worktree; /commit applies the message format; /open-pr runs the checks and opens a draft PR into Argos develop. The skills that guide every step come from the workspace, but the code goes through Argos's own PRs. worktrees/ is git-ignored, so Delphi never sees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/implement missed a step. Park the thought with /journal, then fix the skill on a branch of ws/&lt;name&gt; and PR it into ws/&lt;name&gt;, reviewed like code. After it merges, CI proposes it to main as a PR from propose/&lt;name&gt;; check.sh runs on it. Merge that PR with a merge commit or squash, never a rebase. CI then refreshes every workspace branch, and teammates pick it up with git merge origin/ws/&lt;name&gt;.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directions are subtree merges done by ci/sync.sh on every push to main or any ws/ branch. Refresh merges main into ws/&lt;name&gt; with the folder mapped to the root; propose does the reverse into propose/&lt;name&gt; and opens the PR. Because they're merges, histories stay joined and edits on both sides meet in a normal three-way merge. Sync also puts main's .delphi/ on every branch and regenerates settings.json, undoing hand edits to either.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pull something new in, edit workspace.yml (the setup-workspace skill knows the format) and re-run setup.sh; the new folders appear and stay git-ignored. Because workspace.yml is shared, PR the change into ws/&lt;name&gt; so teammates get it on their next setup. A plugin set takes effect once CI regenerates settings.json on the branch. For a one-off look, add the entry, run setup, then git restore workspace.yml. The entries here are examples.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you're unsure where an edit belongs, find the row. The rule underneath: change a thing where it comes from. Workspace files through ws/&lt;name&gt;, shared context and machinery through main, code through its own repo, and personal settings nowhere at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commands to a ready agent. Clone the workspace branch, run setup once, and start Claude Code at the root; the workspace's skills, glossary and repos are all there. Re-run setup after changing workspace.yml, and use switch.sh to move the same clone to another workspace or to 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wyattbracy-Desktop-ner-app-software-Delphi/28e5bd69-bc06-4d46-875e-7c63334f5a2a/scratchpad/build/out/pptx/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wyattbracy-Desktop-ner-app-software-Delphi/28e5bd69-bc06-4d46-875e-7c63334f5a2a/scratchpad/build/out/pptx/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331470"/>
            <a:ext cx="85725" cy="85725"/>
          </a:xfrm>
          <a:prstGeom prst="rect">
            <a:avLst/>
          </a:prstGeom>
          <a:solidFill>
            <a:srgbClr val="B9821F"/>
          </a:solidFill>
          <a:ln w="12700">
            <a:solidFill>
              <a:srgbClr val="B9821F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17220" y="297180"/>
            <a:ext cx="64008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b="1" spc="160" kern="0" dirty="0">
                <a:solidFill>
                  <a:srgbClr val="B98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MODEL</a:t>
            </a:r>
            <a:endParaRPr lang="en-US" sz="810" dirty="0"/>
          </a:p>
        </p:txBody>
      </p:sp>
      <p:sp>
        <p:nvSpPr>
          <p:cNvPr id="5" name="Text 2"/>
          <p:cNvSpPr/>
          <p:nvPr/>
        </p:nvSpPr>
        <p:spPr>
          <a:xfrm>
            <a:off x="45720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50" b="1" dirty="0">
                <a:solidFill>
                  <a:srgbClr val="1C22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workspace is a folder on main, and a branch you clone</a:t>
            </a:r>
            <a:endParaRPr lang="en-US" sz="2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wyattbracy-Desktop-ner-app-software-Delphi/28e5bd69-bc06-4d46-875e-7c63334f5a2a/scratchpad/build/out/pptx/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331470"/>
            <a:ext cx="85725" cy="85725"/>
          </a:xfrm>
          <a:prstGeom prst="rect">
            <a:avLst/>
          </a:prstGeom>
          <a:solidFill>
            <a:srgbClr val="B9821F"/>
          </a:solidFill>
          <a:ln w="12700">
            <a:solidFill>
              <a:srgbClr val="B9821F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17220" y="297180"/>
            <a:ext cx="64008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b="1" spc="160" kern="0" dirty="0">
                <a:solidFill>
                  <a:srgbClr val="B98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WORKSPACE.YML</a:t>
            </a:r>
            <a:endParaRPr lang="en-US" sz="810" dirty="0"/>
          </a:p>
        </p:txBody>
      </p:sp>
      <p:sp>
        <p:nvSpPr>
          <p:cNvPr id="5" name="Text 2"/>
          <p:cNvSpPr/>
          <p:nvPr/>
        </p:nvSpPr>
        <p:spPr>
          <a:xfrm>
            <a:off x="45720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50" b="1" dirty="0">
                <a:solidFill>
                  <a:srgbClr val="1C22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small file says what a workspace pulls in</a:t>
            </a:r>
            <a:endParaRPr lang="en-US" sz="2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wyattbracy-Desktop-ner-app-software-Delphi/28e5bd69-bc06-4d46-875e-7c63334f5a2a/scratchpad/build/out/pptx/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331470"/>
            <a:ext cx="85725" cy="85725"/>
          </a:xfrm>
          <a:prstGeom prst="rect">
            <a:avLst/>
          </a:prstGeom>
          <a:solidFill>
            <a:srgbClr val="B9821F"/>
          </a:solidFill>
          <a:ln w="12700">
            <a:solidFill>
              <a:srgbClr val="B9821F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17220" y="297180"/>
            <a:ext cx="64008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b="1" spc="160" kern="0" dirty="0">
                <a:solidFill>
                  <a:srgbClr val="B98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WORKSPACE.YML  →  DISK</a:t>
            </a:r>
            <a:endParaRPr lang="en-US" sz="810" dirty="0"/>
          </a:p>
        </p:txBody>
      </p:sp>
      <p:sp>
        <p:nvSpPr>
          <p:cNvPr id="5" name="Text 2"/>
          <p:cNvSpPr/>
          <p:nvPr/>
        </p:nvSpPr>
        <p:spPr>
          <a:xfrm>
            <a:off x="45720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50" b="1" dirty="0">
                <a:solidFill>
                  <a:srgbClr val="1C22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key turns into something in your clone</a:t>
            </a:r>
            <a:endParaRPr lang="en-US" sz="2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wyattbracy-Desktop-ner-app-software-Delphi/28e5bd69-bc06-4d46-875e-7c63334f5a2a/scratchpad/build/out/pptx/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331470"/>
            <a:ext cx="85725" cy="85725"/>
          </a:xfrm>
          <a:prstGeom prst="rect">
            <a:avLst/>
          </a:prstGeom>
          <a:solidFill>
            <a:srgbClr val="B9821F"/>
          </a:solidFill>
          <a:ln w="12700">
            <a:solidFill>
              <a:srgbClr val="B9821F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17220" y="297180"/>
            <a:ext cx="64008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b="1" spc="160" kern="0" dirty="0">
                <a:solidFill>
                  <a:srgbClr val="B98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WHERE THINGS COME FROM</a:t>
            </a:r>
            <a:endParaRPr lang="en-US" sz="810" dirty="0"/>
          </a:p>
        </p:txBody>
      </p:sp>
      <p:sp>
        <p:nvSpPr>
          <p:cNvPr id="5" name="Text 2"/>
          <p:cNvSpPr/>
          <p:nvPr/>
        </p:nvSpPr>
        <p:spPr>
          <a:xfrm>
            <a:off x="45720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50" b="1" dirty="0">
                <a:solidFill>
                  <a:srgbClr val="1C22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file in your clone has one source</a:t>
            </a:r>
            <a:endParaRPr lang="en-US" sz="2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wyattbracy-Desktop-ner-app-software-Delphi/28e5bd69-bc06-4d46-875e-7c63334f5a2a/scratchpad/build/out/pptx/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331470"/>
            <a:ext cx="85725" cy="85725"/>
          </a:xfrm>
          <a:prstGeom prst="rect">
            <a:avLst/>
          </a:prstGeom>
          <a:solidFill>
            <a:srgbClr val="B9821F"/>
          </a:solidFill>
          <a:ln w="12700">
            <a:solidFill>
              <a:srgbClr val="B9821F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17220" y="297180"/>
            <a:ext cx="64008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b="1" spc="160" kern="0" dirty="0">
                <a:solidFill>
                  <a:srgbClr val="B98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WHERE THINGS COME FROM</a:t>
            </a:r>
            <a:endParaRPr lang="en-US" sz="810" dirty="0"/>
          </a:p>
        </p:txBody>
      </p:sp>
      <p:sp>
        <p:nvSpPr>
          <p:cNvPr id="5" name="Text 2"/>
          <p:cNvSpPr/>
          <p:nvPr/>
        </p:nvSpPr>
        <p:spPr>
          <a:xfrm>
            <a:off x="45720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50" b="1" dirty="0">
                <a:solidFill>
                  <a:srgbClr val="1C22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ways context from above reaches a workspace</a:t>
            </a:r>
            <a:endParaRPr lang="en-US" sz="2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wyattbracy-Desktop-ner-app-software-Delphi/28e5bd69-bc06-4d46-875e-7c63334f5a2a/scratchpad/build/out/pptx/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331470"/>
            <a:ext cx="85725" cy="85725"/>
          </a:xfrm>
          <a:prstGeom prst="rect">
            <a:avLst/>
          </a:prstGeom>
          <a:solidFill>
            <a:srgbClr val="B9821F"/>
          </a:solidFill>
          <a:ln w="12700">
            <a:solidFill>
              <a:srgbClr val="B9821F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17220" y="297180"/>
            <a:ext cx="64008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b="1" spc="160" kern="0" dirty="0">
                <a:solidFill>
                  <a:srgbClr val="B98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WORKFLOW  1 / 2</a:t>
            </a:r>
            <a:endParaRPr lang="en-US" sz="810" dirty="0"/>
          </a:p>
        </p:txBody>
      </p:sp>
      <p:sp>
        <p:nvSpPr>
          <p:cNvPr id="5" name="Text 2"/>
          <p:cNvSpPr/>
          <p:nvPr/>
        </p:nvSpPr>
        <p:spPr>
          <a:xfrm>
            <a:off x="45720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50" b="1" dirty="0">
                <a:solidFill>
                  <a:srgbClr val="1C22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code change: skills from Delphi, code to Argos</a:t>
            </a:r>
            <a:endParaRPr lang="en-US" sz="2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wyattbracy-Desktop-ner-app-software-Delphi/28e5bd69-bc06-4d46-875e-7c63334f5a2a/scratchpad/build/out/pptx/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331470"/>
            <a:ext cx="85725" cy="85725"/>
          </a:xfrm>
          <a:prstGeom prst="rect">
            <a:avLst/>
          </a:prstGeom>
          <a:solidFill>
            <a:srgbClr val="B9821F"/>
          </a:solidFill>
          <a:ln w="12700">
            <a:solidFill>
              <a:srgbClr val="B9821F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17220" y="297180"/>
            <a:ext cx="64008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b="1" spc="160" kern="0" dirty="0">
                <a:solidFill>
                  <a:srgbClr val="B98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WORKFLOW  2 / 2</a:t>
            </a:r>
            <a:endParaRPr lang="en-US" sz="810" dirty="0"/>
          </a:p>
        </p:txBody>
      </p:sp>
      <p:sp>
        <p:nvSpPr>
          <p:cNvPr id="5" name="Text 2"/>
          <p:cNvSpPr/>
          <p:nvPr/>
        </p:nvSpPr>
        <p:spPr>
          <a:xfrm>
            <a:off x="45720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50" b="1" dirty="0">
                <a:solidFill>
                  <a:srgbClr val="1C22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context change: fix it once, every clone gets it</a:t>
            </a:r>
            <a:endParaRPr lang="en-US" sz="2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wyattbracy-Desktop-ner-app-software-Delphi/28e5bd69-bc06-4d46-875e-7c63334f5a2a/scratchpad/build/out/pptx/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331470"/>
            <a:ext cx="85725" cy="85725"/>
          </a:xfrm>
          <a:prstGeom prst="rect">
            <a:avLst/>
          </a:prstGeom>
          <a:solidFill>
            <a:srgbClr val="B9821F"/>
          </a:solidFill>
          <a:ln w="12700">
            <a:solidFill>
              <a:srgbClr val="B9821F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17220" y="297180"/>
            <a:ext cx="64008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b="1" spc="160" kern="0" dirty="0">
                <a:solidFill>
                  <a:srgbClr val="B98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UNDER THE HOOD</a:t>
            </a:r>
            <a:endParaRPr lang="en-US" sz="810" dirty="0"/>
          </a:p>
        </p:txBody>
      </p:sp>
      <p:sp>
        <p:nvSpPr>
          <p:cNvPr id="5" name="Text 2"/>
          <p:cNvSpPr/>
          <p:nvPr/>
        </p:nvSpPr>
        <p:spPr>
          <a:xfrm>
            <a:off x="45720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50" b="1" dirty="0">
                <a:solidFill>
                  <a:srgbClr val="1C22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CI merges keep the folder and the branch in step</a:t>
            </a:r>
            <a:endParaRPr lang="en-US" sz="2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wyattbracy-Desktop-ner-app-software-Delphi/28e5bd69-bc06-4d46-875e-7c63334f5a2a/scratchpad/build/out/pptx/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331470"/>
            <a:ext cx="85725" cy="85725"/>
          </a:xfrm>
          <a:prstGeom prst="rect">
            <a:avLst/>
          </a:prstGeom>
          <a:solidFill>
            <a:srgbClr val="B9821F"/>
          </a:solidFill>
          <a:ln w="12700">
            <a:solidFill>
              <a:srgbClr val="B9821F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17220" y="297180"/>
            <a:ext cx="64008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b="1" spc="160" kern="0" dirty="0">
                <a:solidFill>
                  <a:srgbClr val="B98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WORKSPACE.YML  ·  IN PRACTICE</a:t>
            </a:r>
            <a:endParaRPr lang="en-US" sz="810" dirty="0"/>
          </a:p>
        </p:txBody>
      </p:sp>
      <p:sp>
        <p:nvSpPr>
          <p:cNvPr id="5" name="Text 2"/>
          <p:cNvSpPr/>
          <p:nvPr/>
        </p:nvSpPr>
        <p:spPr>
          <a:xfrm>
            <a:off x="45720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50" b="1" dirty="0">
                <a:solidFill>
                  <a:srgbClr val="1C22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Need more in your workspace? Edit workspace.yml</a:t>
            </a:r>
            <a:endParaRPr lang="en-US" sz="2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wyattbracy-Desktop-ner-app-software-Delphi/28e5bd69-bc06-4d46-875e-7c63334f5a2a/scratchpad/build/out/pptx/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331470"/>
            <a:ext cx="85725" cy="85725"/>
          </a:xfrm>
          <a:prstGeom prst="rect">
            <a:avLst/>
          </a:prstGeom>
          <a:solidFill>
            <a:srgbClr val="B9821F"/>
          </a:solidFill>
          <a:ln w="12700">
            <a:solidFill>
              <a:srgbClr val="B9821F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17220" y="297180"/>
            <a:ext cx="64008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b="1" spc="160" kern="0" dirty="0">
                <a:solidFill>
                  <a:srgbClr val="B982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CHEAT SHEET</a:t>
            </a:r>
            <a:endParaRPr lang="en-US" sz="810" dirty="0"/>
          </a:p>
        </p:txBody>
      </p:sp>
      <p:sp>
        <p:nvSpPr>
          <p:cNvPr id="5" name="Text 2"/>
          <p:cNvSpPr/>
          <p:nvPr/>
        </p:nvSpPr>
        <p:spPr>
          <a:xfrm>
            <a:off x="45720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50" b="1" dirty="0">
                <a:solidFill>
                  <a:srgbClr val="1C22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do I change…?</a:t>
            </a:r>
            <a:endParaRPr lang="en-US" sz="2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wyattbracy-Desktop-ner-app-software-Delphi/28e5bd69-bc06-4d46-875e-7c63334f5a2a/scratchpad/build/out/pptx/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Delphi: where your agent's context comes from</dc:title>
  <dc:subject>PptxGenJS Presentation</dc:subject>
  <dc:creator>NER Software</dc:creator>
  <cp:lastModifiedBy>NER Software</cp:lastModifiedBy>
  <cp:revision>1</cp:revision>
  <dcterms:created xsi:type="dcterms:W3CDTF">2026-10-11T19:34:25Z</dcterms:created>
  <dcterms:modified xsi:type="dcterms:W3CDTF">2026-10-11T19:34:25Z</dcterms:modified>
</cp:coreProperties>
</file>